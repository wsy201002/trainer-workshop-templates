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mainMaster="rId1" firstSlideNum="1" rtl="false">
  <p:sldMasterIdLst>
    <p:sldMasterId id="2147483648" r:id="rId1"/>
  </p:sldMasterIdLst>
  <p:sldIdLst>
    <p:sldId id="256" r:id="rId3"/>
  </p:sldIdLst>
  <p:sldLayoutIdLst>
    <p:sldLayoutId id="2147483649" r:id="rId4"/>
  </p:sldLayoutIdLst>
  <p:txStyles>
    <p:titleStyle>
      <p:lvl1pPr/>
    </p:titleStyle>
    <p:bodyStyle>
      <p:lvl1pPr/>
    </p:bodyStyle>
    <p:otherStyle>
      <p:lvl1pPr/>
    </p:otherStyle>
  </p:txStyles>
  <p:notesSz cx="6858000" cy="9144000"/>
  <p:defaultTextStyle>
    <a:defPPr/>
  </p:defaultTextStyle>
</p:presentation>
</file>

<file path=ppt/presProps.xml><?xml version="1.0" encoding="utf-8"?>
<p:presentationPr xmlns:p="http://schemas.openxmlformats.org/presentationml/2006/main">
  <p:extLst>
    <p:ext uri="{E76CE94A-603C-4147-B67D-4D46F2654D9C}">
      <p14:creationId xmlns:p14="http://schemas.microsoft.com/office/powerpoint/2010/main" val="123456789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Layout" Target="slideLayouts/slideLayout1.xml"/>
  <Relationship Id="rId5" Type="http://schemas.openxmlformats.org/officeDocument/2006/relationships/presProps" Target="presProps.xml"/>
  <Relationship Id="rId6" Type="http://schemas.openxmlformats.org/officeDocument/2006/relationships/tableStyles" Target="tableStyles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name="Blank" showMasterSp="false">
  <p:cSld name="Blank">
    <p:spTree>
      <p:nvGrpSpPr>
        <p:cNvPr id="1" name=""/>
        <p:cNvSpPr/>
        <p:nvPr/>
      </p:nvGrpSpPr>
      <p:grpSpPr/>
    </p:spTree>
  </p:cSld>
  <p:clrMapOvr>
    <a:masterClrMapping/>
  </p:clrMapOvr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lt1"/>
      </p:bgRef>
    </p:bg>
    <p:spTree>
      <p:nvGrpSpPr>
        <p:cNvPr id="1" name=""/>
        <p:cNvSpPr/>
        <p:nvPr/>
      </p:nvGrpSpPr>
      <p:grpSpPr/>
    </p:spTree>
  </p:cSld>
  <p:txStyles>
    <p:titleStyle>
      <a:lvl1pPr algn="ctr" defTabSz="914400">
        <a:defRPr sz="4400" b="1" kern="1200">
          <a:solidFill>
            <a:schemeClr val="dk1"/>
          </a:solidFill>
          <a:latin typeface="+mn-lt"/>
          <a:ea typeface="+mn-ea"/>
        </a:defRPr>
      </a:lvl1pPr>
    </p:titleStyle>
    <p:bodyStyle>
      <a:lvl1pPr algn="l" defTabSz="914400" indent="914400" marL="914400">
        <a:defRPr sz="1800">
          <a:solidFill>
            <a:schemeClr val="dk1"/>
          </a:solidFill>
          <a:latin typeface="+mn-lt"/>
          <a:ea typeface="+mn-ea"/>
        </a:defRPr>
      </a:lvl1pPr>
    </p:bodyStyle>
    <p:otherStyle>
      <a:defPPr>
        <a:defRPr sz="1800">
          <a:solidFill>
            <a:schemeClr val="dk1"/>
          </a:solidFill>
          <a:latin typeface="+mn-lt"/>
          <a:ea typeface="+mn-ea"/>
        </a:defRPr>
      </a:defPPr>
    </p:otherStyle>
  </p:txStyles>
  <p:sldLayoutIdLst>
    <p:sldLayoutId id="2147483649" r:id="rId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0">
            <a:gsLst>
              <a:gs pos="0">
                <a:srgbClr val="E8F5E9"/>
              </a:gs>
              <a:gs pos="100000">
                <a:srgbClr val="C8E6C9"/>
              </a:gs>
            </a:gsLst>
            <a:lin ang="13500000" scaled="0"/>
          </a:gradFill>
        </p:spPr>
      </p:sp>
      <p:sp>
        <p:nvSpPr>
          <p:cNvPr id="2" name="Title"/>
          <p:cNvSpPr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2800" b="1">
                <a:solidFill>
                  <a:srgbClr val="1B5E20"/>
                </a:solidFill>
                <a:latin typeface="Microsoft YaHei"/>
                <a:ea typeface="Microsoft YaHei"/>
              </a:rPr>
              <a:t>生产培训管理体系 - RACI职责全景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77724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1300" i="1">
                <a:solidFill>
                  <a:srgbClr val="2E7D32"/>
                </a:solidFill>
                <a:latin typeface="Microsoft YaHei"/>
                <a:ea typeface="Microsoft YaHei"/>
              </a:rPr>
              <a:t>基于RACI矩阵的10大模块 x 5类角色层级职责总览</a:t>
            </a:r>
          </a:p>
        </p:txBody>
      </p:sp>
      <p:sp>
        <p:nvSpPr>
          <p:cNvPr id="10" name="L1"/>
          <p:cNvSpPr>
            <a:spLocks noChangeArrowheads="1"/>
          </p:cNvSpPr>
          <p:nvPr/>
        </p:nvSpPr>
        <p:spPr>
          <a:xfrm>
            <a:off x="1294790" y="1188720"/>
            <a:ext cx="9601200" cy="749808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effectLst>
            <a:outerShdw blurRad="50800" dist="25400" dir="27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0" name="Badge1"/>
          <p:cNvSpPr/>
          <p:nvPr/>
        </p:nvSpPr>
        <p:spPr>
          <a:xfrm>
            <a:off x="548640" y="1307592"/>
            <a:ext cx="512064" cy="51206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/>
            </a:solidFill>
          </a:ln>
        </p:spPr>
      </p:sp>
      <p:sp>
        <p:nvSpPr>
          <p:cNvPr id="21" name="Num1"/>
          <p:cNvSpPr/>
          <p:nvPr/>
        </p:nvSpPr>
        <p:spPr>
          <a:xfrm>
            <a:off x="548640" y="13075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sz="1200" b="1">
                <a:solidFill>
                  <a:srgbClr val="FFFFFF"/>
                </a:solidFill>
                <a:latin typeface="Calibri"/>
                <a:ea typeface="Calibri"/>
              </a:rPr>
              <a:t>L1</a:t>
            </a:r>
          </a:p>
        </p:txBody>
      </p:sp>
      <p:sp>
        <p:nvSpPr>
          <p:cNvPr id="11" name="Role1"/>
          <p:cNvSpPr/>
          <p:nvPr/>
        </p:nvSpPr>
        <p:spPr>
          <a:xfrm>
            <a:off x="1143000" y="118872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0" lIns="80000" rIns="80000" tIns="0" bIns="0"/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</a:rPr>
              <a:t>集团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75000"/>
              </a:rPr>
              <a:t xml:space="preserve">  |  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>战略决策+体系搭建+跨项目对齐</a:t>
            </a:r>
          </a:p>
        </p:txBody>
      </p:sp>
      <p:sp>
        <p:nvSpPr>
          <p:cNvPr id="12" name="Duties1"/>
          <p:cNvSpPr/>
          <p:nvPr/>
        </p:nvSpPr>
        <p:spPr>
          <a:xfrm>
            <a:off x="1143000" y="1508760"/>
            <a:ext cx="9418320" cy="429768"/>
          </a:xfrm>
          <a:prstGeom prst="rect">
            <a:avLst/>
          </a:prstGeom>
          <a:noFill/>
          <a:ln>
            <a:noFill/>
          </a:ln>
        </p:spPr>
        <p:txBody>
          <a:bodyPr anchor="t" anchorCtr="0" lIns="60000" rIns="60000" tIns="0" bIns="0"/>
          <a:lstStyle/>
          <a:p>
            <a:pPr algn="l"/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[1] 组织架构与政策审批  [3] 年度培训计划决策  [7] 培训师选拔与绩效考核  [9] 审核整改决策与内部分享  [10] 体系月度复盘与最佳实践推广</a:t>
            </a:r>
          </a:p>
        </p:txBody>
      </p:sp>
      <p:sp>
        <p:nvSpPr>
          <p:cNvPr id="12" name="Arrow1"/>
          <p:cNvSpPr/>
          <p:nvPr/>
        </p:nvSpPr>
        <p:spPr>
          <a:xfrm>
            <a:off x="5638190" y="1938528"/>
            <a:ext cx="914400" cy="137160"/>
          </a:xfrm>
          <a:prstGeom prst="downArrow">
            <a:avLst/>
          </a:prstGeom>
          <a:solidFill>
            <a:srgbClr val="A5D6A7"/>
          </a:solidFill>
          <a:ln w="0">
            <a:noFill/>
          </a:ln>
        </p:spPr>
      </p:sp>
      <p:sp>
        <p:nvSpPr>
          <p:cNvPr id="13" name="L2"/>
          <p:cNvSpPr>
            <a:spLocks noChangeArrowheads="1"/>
          </p:cNvSpPr>
          <p:nvPr/>
        </p:nvSpPr>
        <p:spPr>
          <a:xfrm>
            <a:off x="1294790" y="2075688"/>
            <a:ext cx="9601200" cy="749808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effectLst>
            <a:outerShdw blurRad="50800" dist="25400" dir="27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2" name="Badge2"/>
          <p:cNvSpPr/>
          <p:nvPr/>
        </p:nvSpPr>
        <p:spPr>
          <a:xfrm>
            <a:off x="548640" y="2194560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23" name="Num2"/>
          <p:cNvSpPr/>
          <p:nvPr/>
        </p:nvSpPr>
        <p:spPr>
          <a:xfrm>
            <a:off x="54864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sz="1200" b="1">
                <a:solidFill>
                  <a:srgbClr val="FFFFFF"/>
                </a:solidFill>
                <a:latin typeface="Calibri"/>
                <a:ea typeface="Calibri"/>
              </a:rPr>
              <a:t>L2</a:t>
            </a:r>
          </a:p>
        </p:txBody>
      </p:sp>
      <p:sp>
        <p:nvSpPr>
          <p:cNvPr id="14" name="Role2"/>
          <p:cNvSpPr/>
          <p:nvPr/>
        </p:nvSpPr>
        <p:spPr>
          <a:xfrm>
            <a:off x="1143000" y="2075688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0" lIns="80000" rIns="80000" tIns="0" bIns="0"/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</a:rPr>
              <a:t>工厂人资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75000"/>
              </a:rPr>
              <a:t xml:space="preserve">  |  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>需求管理+合规记录+审核应对</a:t>
            </a:r>
          </a:p>
        </p:txBody>
      </p:sp>
      <p:sp>
        <p:nvSpPr>
          <p:cNvPr id="15" name="Duties2"/>
          <p:cNvSpPr/>
          <p:nvPr/>
        </p:nvSpPr>
        <p:spPr>
          <a:xfrm>
            <a:off x="1143000" y="2395728"/>
            <a:ext cx="9418320" cy="429768"/>
          </a:xfrm>
          <a:prstGeom prst="rect">
            <a:avLst/>
          </a:prstGeom>
          <a:noFill/>
          <a:ln>
            <a:noFill/>
          </a:ln>
        </p:spPr>
        <p:txBody>
          <a:bodyPr anchor="t" anchorCtr="0" lIns="60000" rIns="60000" tIns="0" bIns="0"/>
          <a:lstStyle/>
          <a:p>
            <a:pPr algn="l"/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[2] 培训需求确认 (新/转/返岗)  [5] 成绩录入/资格证发放/资质档案  [8] 培训记录归档/电子/审计 (一人一档)  [9] 审核资料准备与陪同应答  [10] 效果评估/课程更新/改进建议</a:t>
            </a:r>
          </a:p>
        </p:txBody>
      </p:sp>
      <p:sp>
        <p:nvSpPr>
          <p:cNvPr id="15" name="Arrow2"/>
          <p:cNvSpPr/>
          <p:nvPr/>
        </p:nvSpPr>
        <p:spPr>
          <a:xfrm>
            <a:off x="5638190" y="2825496"/>
            <a:ext cx="914400" cy="137160"/>
          </a:xfrm>
          <a:prstGeom prst="downArrow">
            <a:avLst/>
          </a:prstGeom>
          <a:solidFill>
            <a:srgbClr val="A5D6A7"/>
          </a:solidFill>
          <a:ln w="0">
            <a:noFill/>
          </a:ln>
        </p:spPr>
      </p:sp>
      <p:sp>
        <p:nvSpPr>
          <p:cNvPr id="16" name="L3"/>
          <p:cNvSpPr>
            <a:spLocks noChangeArrowheads="1"/>
          </p:cNvSpPr>
          <p:nvPr/>
        </p:nvSpPr>
        <p:spPr>
          <a:xfrm>
            <a:off x="1294790" y="2962656"/>
            <a:ext cx="9601200" cy="749808"/>
          </a:xfrm>
          <a:prstGeom prst="roundRect">
            <a:avLst>
              <a:gd name="adj" fmla="val 16667"/>
            </a:avLst>
          </a:prstGeom>
          <a:solidFill>
            <a:srgbClr val="388E3C"/>
          </a:solidFill>
          <a:effectLst>
            <a:outerShdw blurRad="50800" dist="25400" dir="27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4" name="Badge3"/>
          <p:cNvSpPr/>
          <p:nvPr/>
        </p:nvSpPr>
        <p:spPr>
          <a:xfrm>
            <a:off x="548640" y="3081528"/>
            <a:ext cx="512064" cy="512064"/>
          </a:xfrm>
          <a:prstGeom prst="ellipse">
            <a:avLst/>
          </a:prstGeom>
          <a:solidFill>
            <a:srgbClr val="388E3C"/>
          </a:solidFill>
          <a:ln w="12700">
            <a:solidFill>
              <a:srgbClr val="FFFFFF"/>
            </a:solidFill>
          </a:ln>
        </p:spPr>
      </p:sp>
      <p:sp>
        <p:nvSpPr>
          <p:cNvPr id="25" name="Num3"/>
          <p:cNvSpPr/>
          <p:nvPr/>
        </p:nvSpPr>
        <p:spPr>
          <a:xfrm>
            <a:off x="548640" y="308152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sz="1200" b="1">
                <a:solidFill>
                  <a:srgbClr val="FFFFFF"/>
                </a:solidFill>
                <a:latin typeface="Calibri"/>
                <a:ea typeface="Calibri"/>
              </a:rPr>
              <a:t>L3</a:t>
            </a:r>
          </a:p>
        </p:txBody>
      </p:sp>
      <p:sp>
        <p:nvSpPr>
          <p:cNvPr id="17" name="Role3"/>
          <p:cNvSpPr/>
          <p:nvPr/>
        </p:nvSpPr>
        <p:spPr>
          <a:xfrm>
            <a:off x="1143000" y="296265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0" lIns="80000" rIns="80000" tIns="0" bIns="0"/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</a:rPr>
              <a:t>生产培训负责人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75000"/>
              </a:rPr>
              <a:t xml:space="preserve">  |  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>执行管理+计划排期+考核认证</a:t>
            </a:r>
          </a:p>
        </p:txBody>
      </p:sp>
      <p:sp>
        <p:nvSpPr>
          <p:cNvPr id="18" name="Duties3"/>
          <p:cNvSpPr/>
          <p:nvPr/>
        </p:nvSpPr>
        <p:spPr>
          <a:xfrm>
            <a:off x="1143000" y="3282696"/>
            <a:ext cx="9418320" cy="429768"/>
          </a:xfrm>
          <a:prstGeom prst="rect">
            <a:avLst/>
          </a:prstGeom>
          <a:noFill/>
          <a:ln>
            <a:noFill/>
          </a:ln>
        </p:spPr>
        <p:txBody>
          <a:bodyPr anchor="t" anchorCtr="0" lIns="60000" rIns="60000" tIns="0" bIns="0"/>
          <a:lstStyle/>
          <a:p>
            <a:pPr algn="l"/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[2] 技能差距分析/专项需求分析  [3] 月/周计划分解排期  [4] 培训实施统筹/签到记录  [5] 考核组织/评分/师徒协议  [6] 技能矩阵维护与月度审核</a:t>
            </a:r>
          </a:p>
        </p:txBody>
      </p:sp>
      <p:sp>
        <p:nvSpPr>
          <p:cNvPr id="18" name="Arrow3"/>
          <p:cNvSpPr/>
          <p:nvPr/>
        </p:nvSpPr>
        <p:spPr>
          <a:xfrm>
            <a:off x="5638190" y="3712464"/>
            <a:ext cx="914400" cy="137160"/>
          </a:xfrm>
          <a:prstGeom prst="downArrow">
            <a:avLst/>
          </a:prstGeom>
          <a:solidFill>
            <a:srgbClr val="A5D6A7"/>
          </a:solidFill>
          <a:ln w="0">
            <a:noFill/>
          </a:ln>
        </p:spPr>
      </p:sp>
      <p:sp>
        <p:nvSpPr>
          <p:cNvPr id="19" name="L4"/>
          <p:cNvSpPr>
            <a:spLocks noChangeArrowheads="1"/>
          </p:cNvSpPr>
          <p:nvPr/>
        </p:nvSpPr>
        <p:spPr>
          <a:xfrm>
            <a:off x="1294790" y="3849624"/>
            <a:ext cx="9601200" cy="749808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effectLst>
            <a:outerShdw blurRad="50800" dist="25400" dir="27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6" name="Badge4"/>
          <p:cNvSpPr/>
          <p:nvPr/>
        </p:nvSpPr>
        <p:spPr>
          <a:xfrm>
            <a:off x="548640" y="3968496"/>
            <a:ext cx="512064" cy="51206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/>
            </a:solidFill>
          </a:ln>
        </p:spPr>
      </p:sp>
      <p:sp>
        <p:nvSpPr>
          <p:cNvPr id="27" name="Num4"/>
          <p:cNvSpPr/>
          <p:nvPr/>
        </p:nvSpPr>
        <p:spPr>
          <a:xfrm>
            <a:off x="548640" y="39684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sz="1200" b="1">
                <a:solidFill>
                  <a:srgbClr val="FFFFFF"/>
                </a:solidFill>
                <a:latin typeface="Calibri"/>
                <a:ea typeface="Calibri"/>
              </a:rPr>
              <a:t>L4</a:t>
            </a:r>
          </a:p>
        </p:txBody>
      </p:sp>
      <p:sp>
        <p:nvSpPr>
          <p:cNvPr id="20" name="Role4"/>
          <p:cNvSpPr/>
          <p:nvPr/>
        </p:nvSpPr>
        <p:spPr>
          <a:xfrm>
            <a:off x="1143000" y="3849624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0" lIns="80000" rIns="80000" tIns="0" bIns="0"/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</a:rPr>
              <a:t>培训师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75000"/>
              </a:rPr>
              <a:t xml:space="preserve">  |  </a:t>
            </a:r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>教学实施+考核评分+现场记录</a:t>
            </a:r>
          </a:p>
        </p:txBody>
      </p:sp>
      <p:sp>
        <p:nvSpPr>
          <p:cNvPr id="21" name="Duties4"/>
          <p:cNvSpPr/>
          <p:nvPr/>
        </p:nvSpPr>
        <p:spPr>
          <a:xfrm>
            <a:off x="1143000" y="4169664"/>
            <a:ext cx="9418320" cy="429768"/>
          </a:xfrm>
          <a:prstGeom prst="rect">
            <a:avLst/>
          </a:prstGeom>
          <a:noFill/>
          <a:ln>
            <a:noFill/>
          </a:ln>
        </p:spPr>
        <p:txBody>
          <a:bodyPr anchor="t" anchorCtr="0" lIns="60000" rIns="60000" tIns="0" bIns="0"/>
          <a:lstStyle/>
          <a:p>
            <a:pPr algn="l"/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[4] 入职培训/理论+实操教学/OJT  [4] 班前会要点传达/现场记录  [5] 考试出题/实操考核/复训安排  [6] 技能数据采集与看板更新  [7] TTT能力评估与跨班调配</a:t>
            </a:r>
          </a:p>
        </p:txBody>
      </p:sp>
      <p:sp>
        <p:nvSpPr>
          <p:cNvPr id="21" name="Arrow4"/>
          <p:cNvSpPr/>
          <p:nvPr/>
        </p:nvSpPr>
        <p:spPr>
          <a:xfrm>
            <a:off x="5638190" y="4599432"/>
            <a:ext cx="914400" cy="137160"/>
          </a:xfrm>
          <a:prstGeom prst="downArrow">
            <a:avLst/>
          </a:prstGeom>
          <a:solidFill>
            <a:srgbClr val="A5D6A7"/>
          </a:solidFill>
          <a:ln w="0">
            <a:noFill/>
          </a:ln>
        </p:spPr>
      </p:sp>
      <p:sp>
        <p:nvSpPr>
          <p:cNvPr id="22" name="L5"/>
          <p:cNvSpPr>
            <a:spLocks noChangeArrowheads="1"/>
          </p:cNvSpPr>
          <p:nvPr/>
        </p:nvSpPr>
        <p:spPr>
          <a:xfrm>
            <a:off x="1294790" y="4736592"/>
            <a:ext cx="9601200" cy="749808"/>
          </a:xfrm>
          <a:prstGeom prst="roundRect">
            <a:avLst>
              <a:gd name="adj" fmla="val 16667"/>
            </a:avLst>
          </a:prstGeom>
          <a:solidFill>
            <a:srgbClr val="81C784"/>
          </a:solidFill>
          <a:effectLst>
            <a:outerShdw blurRad="50800" dist="25400" dir="27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8" name="Badge5"/>
          <p:cNvSpPr/>
          <p:nvPr/>
        </p:nvSpPr>
        <p:spPr>
          <a:xfrm>
            <a:off x="548640" y="4855464"/>
            <a:ext cx="512064" cy="512064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/>
            </a:solidFill>
          </a:ln>
        </p:spPr>
      </p:sp>
      <p:sp>
        <p:nvSpPr>
          <p:cNvPr id="29" name="Num5"/>
          <p:cNvSpPr/>
          <p:nvPr/>
        </p:nvSpPr>
        <p:spPr>
          <a:xfrm>
            <a:off x="548640" y="485546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sz="1200" b="1">
                <a:solidFill>
                  <a:srgbClr val="FFFFFF"/>
                </a:solidFill>
                <a:latin typeface="Calibri"/>
                <a:ea typeface="Calibri"/>
              </a:rPr>
              <a:t>L5</a:t>
            </a:r>
          </a:p>
        </p:txBody>
      </p:sp>
      <p:sp>
        <p:nvSpPr>
          <p:cNvPr id="23" name="Role5"/>
          <p:cNvSpPr/>
          <p:nvPr/>
        </p:nvSpPr>
        <p:spPr>
          <a:xfrm>
            <a:off x="1143000" y="4736592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0" lIns="80000" rIns="80000" tIns="0" bIns="0"/>
          <a:lstStyle/>
          <a:p>
            <a:pPr algn="l"/>
            <a:r>
              <a:rPr lang="zh-CN" sz="1700" b="1">
                <a:solidFill>
                  <a:srgbClr val="1B5E20"/>
                </a:solidFill>
                <a:latin typeface="Microsoft YaHei"/>
                <a:ea typeface="Microsoft YaHei"/>
              </a:rPr>
              <a:t>生产一线主管和组长</a:t>
            </a:r>
            <a:r>
              <a:rPr lang="zh-CN" sz="1400">
                <a:solidFill>
                  <a:srgbClr val="1B5E20"/>
                </a:solidFill>
                <a:latin typeface="Microsoft YaHei"/>
                <a:ea typeface="Microsoft YaHei"/>
                <a:alpha val="75000"/>
              </a:rPr>
              <a:t xml:space="preserve">  |  </a:t>
            </a:r>
            <a:r>
              <a:rPr lang="zh-CN" sz="1400">
                <a:solidFill>
                  <a:srgbClr val="1B5E20"/>
                </a:solidFill>
                <a:latin typeface="Microsoft YaHei"/>
                <a:ea typeface="Microsoft YaHei"/>
                <a:alpha val="85000"/>
              </a:rPr>
              <a:t>实操配合+数据采集+反馈改进</a:t>
            </a:r>
          </a:p>
        </p:txBody>
      </p:sp>
      <p:sp>
        <p:nvSpPr>
          <p:cNvPr id="24" name="Duties5"/>
          <p:cNvSpPr/>
          <p:nvPr/>
        </p:nvSpPr>
        <p:spPr>
          <a:xfrm>
            <a:off x="1143000" y="5056632"/>
            <a:ext cx="9418320" cy="429768"/>
          </a:xfrm>
          <a:prstGeom prst="rect">
            <a:avLst/>
          </a:prstGeom>
          <a:noFill/>
          <a:ln>
            <a:noFill/>
          </a:ln>
        </p:spPr>
        <p:txBody>
          <a:bodyPr anchor="t" anchorCtr="0" lIns="60000" rIns="60000" tIns="0" bIns="0"/>
          <a:lstStyle/>
          <a:p>
            <a:pPr algn="l"/>
            <a:r>
              <a:rPr lang="zh-CN" sz="1050">
                <a:solidFill>
                  <a:srgbClr val="1B5E20"/>
                </a:solidFill>
                <a:latin typeface="Microsoft YaHei"/>
                <a:ea typeface="Microsoft YaHei"/>
                <a:alpha val="90000"/>
              </a:rPr>
              <a:t>[4] 实操培训配合 (师带徒/OJT)  [4] 班前会5分钟培训要点传达  [6] 员工技能数据采集与上报  [9] 审核前资料配合与现场应答  [10] 现场改进建议与预防反馈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Healing">
  <a:themeElements>
    <a:clrScheme name="GreenHealing">
      <a:dk1>
        <a:srgbClr val="1B5E20"/>
      </a:dk1>
      <a:lt1>
        <a:srgbClr val="F1F8E9"/>
      </a:lt1>
      <a:dk2>
        <a:srgbClr val="2E7D32"/>
      </a:dk2>
      <a:lt2>
        <a:srgbClr val="DCEDC8"/>
      </a:lt2>
      <a:accent1>
        <a:srgbClr val="4CAF50"/>
      </a:accent1>
      <a:accent2>
        <a:srgbClr val="81C784"/>
      </a:accent2>
      <a:accent3>
        <a:srgbClr val="A5D6A7"/>
      </a:accent3>
      <a:accent4>
        <a:srgbClr val="66BB6A"/>
      </a:accent4>
      <a:accent5>
        <a:srgbClr val="388E3C"/>
      </a:accent5>
      <a:accent6>
        <a:srgbClr val="C8E6C9"/>
      </a:accent6>
      <a:hlink>
        <a:srgbClr val="43A047"/>
      </a:hlink>
      <a:folHlink>
        <a:srgbClr val="81C784"/>
      </a:folHlink>
    </a:clrScheme>
    <a:fontScheme name="GreenHealing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GreenHealing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</a:fmtScheme>
  </a:themeElements>
</a:theme>
</file>