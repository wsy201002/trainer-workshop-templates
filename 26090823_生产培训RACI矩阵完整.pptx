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mainMaster="rId1" firstSlideNum="1" rtl="false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LayoutIdLst>
    <p:sldLayoutId id="2147483649" r:id="rId14"/>
  </p:sldLayoutIdLst>
  <p:txStyles>
    <p:titleStyle>
      <p:lvl1pPr/>
    </p:titleStyle>
    <p:bodyStyle>
      <p:lvl1pPr/>
    </p:bodyStyle>
    <p:otherStyle>
      <p:lvl1pPr/>
    </p:otherStyle>
  </p:txStyles>
  <p:notesSz cx="6858000" cy="9144000"/>
  <p:defaultTextStyle>
    <a:defPPr/>
  </p:defaultTextStyle>
</p:presentation>
</file>

<file path=ppt/presProps.xml><?xml version="1.0" encoding="utf-8"?>
<p:presentationPr xmlns:p="http://schemas.openxmlformats.org/presentationml/2006/main">
  <p:extLst>
    <p:ext uri="{E76CE94A-603C-4147-B67D-4D46F2654D9C}">
      <p14:creationId xmlns:p14="http://schemas.microsoft.com/office/powerpoint/2010/main" val="123456789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Layout" Target="slideLayouts/slideLayout1.xml"/>
  <Relationship Id="rId15" Type="http://schemas.openxmlformats.org/officeDocument/2006/relationships/presProps" Target="presProps.xml"/>
  <Relationship Id="rId16" Type="http://schemas.openxmlformats.org/officeDocument/2006/relationships/tableStyles" Target="tableStyles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name="Blank" showMasterSp="false">
  <p:cSld name="Blank">
    <p:spTree>
      <p:nvGrpSpPr>
        <p:cNvPr id="1" name=""/>
        <p:cNvSpPr/>
        <p:nvPr/>
      </p:nvGrpSpPr>
      <p:grpSpPr/>
    </p:spTree>
  </p:cSld>
  <p:clrMapOvr>
    <a:masterClrMapping/>
  </p:clrMapOvr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lt1"/>
      </p:bgRef>
    </p:bg>
    <p:spTree>
      <p:nvGrpSpPr>
        <p:cNvPr id="1" name=""/>
        <p:cNvSpPr/>
        <p:nvPr/>
      </p:nvGrpSpPr>
      <p:grpSpPr/>
    </p:spTree>
  </p:cSld>
  <p:txStyles>
    <p:titleStyle>
      <a:lvl1pPr algn="ctr" defTabSz="914400">
        <a:defRPr sz="4400" b="1" kern="1200">
          <a:solidFill>
            <a:schemeClr val="dk1"/>
          </a:solidFill>
          <a:latin typeface="+mn-lt"/>
          <a:ea typeface="+mn-ea"/>
        </a:defRPr>
      </a:lvl1pPr>
    </p:titleStyle>
    <p:bodyStyle>
      <a:lvl1pPr algn="l" defTabSz="914400" indent="914400" marL="914400">
        <a:defRPr sz="1800">
          <a:solidFill>
            <a:schemeClr val="dk1"/>
          </a:solidFill>
          <a:latin typeface="+mn-lt"/>
          <a:ea typeface="+mn-ea"/>
        </a:defRPr>
      </a:lvl1pPr>
    </p:bodyStyle>
    <p:otherStyle>
      <a:defPPr>
        <a:defRPr sz="1800">
          <a:solidFill>
            <a:schemeClr val="dk1"/>
          </a:solidFill>
          <a:latin typeface="+mn-lt"/>
          <a:ea typeface="+mn-ea"/>
        </a:defRPr>
      </a:defPPr>
    </p:otherStyle>
  </p:txStyles>
  <p:sldLayoutIdLst>
    <p:sldLayoutId id="2147483649" r:id="rId1"/>
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0">
            <a:gsLst>
              <a:gs pos="0">
                <a:srgbClr val="E8F5E9"/>
              </a:gs>
              <a:gs pos="100000">
                <a:srgbClr val="C8E6C9"/>
              </a:gs>
            </a:gsLst>
            <a:lin ang="13500000" scaled="0"/>
          </a:gradFill>
        </p:spPr>
      </p:sp>
      <p:sp>
        <p:nvSpPr>
          <p:cNvPr id="2" name="Title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sz="2400" b="1">
                <a:solidFill>
                  <a:srgbClr val="1B5E20"/>
                </a:solidFill>
                <a:latin typeface="Microsoft YaHei"/>
                <a:ea typeface="Microsoft YaHei"/>
              </a:rPr>
              <a:t>生产培训管理体系 - RACI职责全景</a:t>
            </a:r>
          </a:p>
        </p:txBody>
      </p:sp>
      <p:sp>
        <p:nvSpPr>
          <p:cNvPr id="3" name="Legend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sz="950">
                <a:solidFill>
                  <a:srgbClr val="2E7D32"/>
                </a:solidFill>
                <a:latin typeface="Microsoft YaHei"/>
                <a:ea typeface="Microsoft YaHei"/>
              </a:rPr>
              <a:t>TM=集团培训经理 | TS=项目培训主管 | TR=一线培训师 | TC=培训文员 | HR=HR培训专员 | TL=生产班组长 | PM=项目经理 | MD=制造总监 | QA=质量部门</a:t>
            </a:r>
          </a:p>
        </p:txBody>
      </p:sp>
      <p:sp>
        <p:nvSpPr>
          <p:cNvPr id="4" name="RACI Legend"/>
          <p:cNvSpPr/>
          <p:nvPr/>
        </p:nvSpPr>
        <p:spPr>
          <a:xfrm>
            <a:off x="457200" y="914400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sz="900" b="1">
                <a:solidFill>
                  <a:srgbClr val="1B5E20"/>
                </a:solidFill>
                <a:latin typeface="Microsoft YaHei"/>
                <a:ea typeface="Microsoft YaHei"/>
              </a:rPr>
              <a:t>R=负责执行(绿)  A=最终审批(红)  C=被咨询(蓝)  I=被通知(灰)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sz="1200" i="1">
                <a:solidFill>
                  <a:srgbClr val="2E7D32"/>
                </a:solidFill>
                <a:latin typeface="Microsoft YaHei"/>
                <a:ea typeface="Microsoft YaHei"/>
              </a:rPr>
              <a:t>基于RACI矩阵的10大模块 x 9类角色完整职责总览</a:t>
            </a:r>
          </a:p>
        </p:txBody>
      </p:sp>
    </p:spTree>
  </p:cSld>
  <p:clrMapOvr>
    <a:masterClrMapping/>
  </p:clrMapOvr>
</p:sld>
</file>

<file path=ppt/slides/slide2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模块一：培训体系管理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培训组织架构设计与审批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培训管理制度/程序文件编制与更新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培训政策宣贯与沟通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3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模块二：培训需求管理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2.1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新员工入职培训需求确认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2.2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在岗员工技能差距分析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2.3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转岗/调岗培训需求确认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2.4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返岗培训需求确认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2.5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质量/安全问题触发的专项培训需求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2.6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客户审核/验厂触发的培训需求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4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模块三：培训计划管理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3.1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年度培训计划编制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3.2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月度培训计划分解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3.3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周度培训计划排期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3.4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临时/紧急培训计划安排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3.5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培训计划变更申请与审批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5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模块四：培训实施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新员工入职培训实施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岗位理论培训实施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岗位实操培训实施(OJT)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班前会培训要点传达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专项培训实施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4.6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转岗培训实施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4.7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培训签到与出勤记录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4.8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培训现场照片/视频记录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6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模块五：培训考核与认证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理论考试出题与组织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理论考试成绩录入与存档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实操考核安排与执行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实操考核评分记录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技能等级评定(L0-L3)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5.6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上岗资格证发放/吊销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5.7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师徒协议签订与跟踪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5.8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不合格员工复训安排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7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模块六：技能矩阵管理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6.1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技能矩阵模板设计与维护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6.2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员工技能数据采集与更新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6.3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技能矩阵可视化更新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6.4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技能矩阵月度审核与异常处理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6.5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跨项目技能矩阵对齐(VT vs NX)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8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模块七：培训师管理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7.1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培训师选拔与资质评估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7.2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培训师技能矩阵维护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7.3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培训师培训能力评估(TTT)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7.4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培训师绩效考核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7.5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培训师跨班次调配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7.6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培训师资质档案维护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9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模块八：培训记录与档案管理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8.1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培训记录收集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8.2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培训记录完整性检查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8.3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培训记录归档(一人一档)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8.4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培训记录电子化/系统录入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8.5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纸质档案管理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8.6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培训记录定期抽查与审计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10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模块九：审核应对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9.1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审核前培训资料准备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9.2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审核中陪同与应答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9.3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审核后不符合项整改计划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9.4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整改完成验证与证据提交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9.5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审核发现的内部分享与预防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slides/slide11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0" name=""/><p:cNvSpPr/><p:nvPr/></p:nvGrpSpPr>
      <p:grpSpPr>
        <a:xfrm>
          <a:off x="0" y="0"/><a:ext cx="12191695" cy="6858000"/>
          <a:chOff x="0" y="0"/><a:chExt cx="12191695" cy="6858000"/>
        </a:xfrm>
      </p:grpSpPr>
      
<p:sp>
  <p:nvSpPr><p:cNvPr id="1" name="Background"/><p:cNvSpPr/><p:nvPr/></p:nvSpPr>
  <p:spPr>
    <a:xfrm><a:off x="0" y="0"/><a:ext cx="12191695" cy="6858000"/></a:xfrm>
    <a:prstGeom prst="rect"><a:avLst/></a:prstGeom>
    <a:gradFill rotWithShape="0">
      <a:gsLst>
        <a:gs pos="0"><a:srgbClr val="E8F5E9"/></a:gs>
        <a:gs pos="100000"><a:srgbClr val="C8E6C9"/></a:gs>
      </a:gsLst>
      <a:lin ang="13500000" scaled="0"/>
    </a:gradFill>
  </p:spPr>
</p:sp>
<p:sp>
  <p:nvSpPr><p:cNvPr id="2" name="Title"/><p:cNvSpPr/><p:nvPr/></p:nvSpPr>
  <p:spPr>
    <a:xfrm><a:off x="457200" y="137160"/><a:ext cx="11247120" cy="548640"/></a:xfrm>
    <a:prstGeom prst="rect"><a:avLst/></a:prstGeom>
    <a:noFill/><a:ln><a:noFill/></a:ln>
  </p:spPr>
  <p:txBody>
    <a:bodyPr anchor="ctr" anchorCtr="1"/>
    <a:lstStyle/>
    <a:p><a:pPr algn="ctr"/>
      <a:r><a:rPr lang="zh-CN" sz="2400" b="1">
        <a:solidFill><a:srgbClr val="1B5E20"/></a:solidFill>
        <a:latin typeface="Microsoft YaHei"/><a:ea typeface="Microsoft YaHei"/>
      </a:rPr><a:t>模块十：持续改进</a:t></a:r>
    </a:p>
  </p:txBody>
</p:sp>
<p:sp>
  <p:nvSpPr><p:cNvPr id="3" name="Legend"/><p:cNvSpPr/><p:nvPr/></p:nvSpPr>
  <p:spPr>
    <a:xfrm><a:off x="457200" y="685800"/><a:ext cx="11247120" cy="320040"/></a:xfrm>
    <a:prstGeom prst="rect"><a:avLst/></a:prstGeom>
    <a:noFill/><a:ln><a:noFill/></a:ln>
  </p:spPr>
  <p:txBody>
    <a:bodyPr anchor="ctr" anchorCtr="1"/>
    <a:lstStyle/>
    <a:p><a:pPr algn="ctr"/>
      <a:r><a:rPr lang="zh-CN" sz="950">
        <a:solidFill><a:srgbClr val="2E7D32"/></a:solidFill>
        <a:latin typeface="Microsoft YaHei"/><a:ea typeface="Microsoft YaHei"/>
      </a:rPr><a:t>TM=集团培训经理 | TS=项目培训主管 | TR=一线培训师 | TC=培训文员 | HR=HR培训专员 | TL=生产班组长 | PM=项目经理 | MD=制造总监 | QA=质量部门</a:t></a:r>
    </a:p>
  </p:txBody>
</p:sp>
<p:sp>
  <p:nvSpPr><p:cNvPr id="4" name="RACI Legend"/><p:cNvSpPr/><p:nvPr/></p:nvSpPr>
  <p:spPr>
    <a:xfrm><a:off x="457200" y="914400"/><a:ext cx="11247120" cy="228600"/></a:xfrm>
    <a:prstGeom prst="rect"><a:avLst/></a:prstGeom>
    <a:noFill/><a:ln><a:noFill/></a:ln>
  </p:spPr>
  <p:txBody>
    <a:bodyPr anchor="ctr" anchorCtr="1"/>
    <a:lstStyle/>
    <a:p><a:pPr algn="ctr"/>
      <a:r><a:rPr lang="zh-CN" sz="900" b="1">
        <a:solidFill><a:srgbClr val="1B5E20"/></a:solidFill>
        <a:latin typeface="Microsoft YaHei"/><a:ea typeface="Microsoft YaHei"/>
      </a:rPr><a:t>R=负责执行(绿)  A=最终审批(红)  C=被咨询(蓝)  I=被通知(灰)</a:t></a:r>
    </a:p>
  </p:txBody>
</p:sp><p:graphicFrame>
  <p:nvGraphicFramePr>
    <p:cNvPr id="10" name="RACI Table"/>
    <p:cNvSpPr/>
    <p:nvPr/>
  </p:nvGraphicFramePr>
  <p:xfrm>
    <a:off x="731520" y="1188720"/>
    <a:ext cx="10698480" cy="5029200"/>
  </p:xfrm>
  <a:graphic>
    <a:graphicData uri="http://schemas.openxmlformats.org/drawingml/2006/table">
      <a:tbl>
        <a:tblPr firstRow="1" bandRow="1">
          <a:tblStyleLst/>
        </a:tblPr>
        <a:tblGrid>
          <a:gridCol w="600000"/>
          <a:gridCol w="250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  <a:gridCol w="450000"/>
        </a:tblGrid>
        <a:tr h="400000"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#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FFFFFF"/></a:solidFill>
          <a:latin typeface="Microsoft YaHei"/>
          <a:ea typeface="Microsoft YaHei"/>
        </a:rPr>
        <a:t>流程环节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TS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TC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HR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TL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PM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MD</a:t>
      </a:r>
    </a:p>
  </a:txBody>
  <a:tcPr>
    <a:solidFill><a:srgbClr val="2E7D32"/></a:solidFill>
    <a:ln w="9525"><a:solidFill><a:srgbClr val="C8E6C9"/></a:solidFill></a:ln>
  </a:tcPr>
</a:tc><a:tc>
  <a:txBody>
    <a:bodyPr anchor="ctr" anchorCtr="1"/>
    <a:lstStyle/>
    <a:p>
      <a:pPr algn="ctr"/>
      <a:r>
        <a:rPr lang="zh-CN" sz="900" b="1">
          <a:solidFill><a:srgbClr val="FFFFFF"/></a:solidFill>
          <a:latin typeface="Microsoft YaHei"/>
          <a:ea typeface="Microsoft YaHei"/>
        </a:rPr>
        <a:t>QA</a:t>
      </a:r>
    </a:p>
  </a:txBody>
  <a:tcPr>
    <a:solidFill><a:srgbClr val="2E7D32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10.1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培训效果评估(Kirkpatrick)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10.2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培训体系月度复盘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10.3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培训课程/教材更新迭代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10.4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培训创新/改进建议收集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<a:tr h="400000"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10.5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800" b="0">
          <a:solidFill><a:srgbClr val="1B5E20"/></a:solidFill>
          <a:latin typeface="Microsoft YaHei"/>
          <a:ea typeface="Microsoft YaHei"/>
        </a:rPr>
        <a:t>最佳实践跨项目推广</a:t>
      </a:r>
    </a:p>
  </a:txBody>
  <a:tcPr>
    <a:solidFill><a:srgbClr val="F1F8E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B71C1C"/></a:solidFill>
          <a:latin typeface="Microsoft YaHei"/>
          <a:ea typeface="Microsoft YaHei"/>
        </a:rPr>
        <a:t>A</a:t>
      </a:r>
    </a:p>
  </a:txBody>
  <a:tcPr>
    <a:solidFill><a:srgbClr val="FFCDD2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1B5E20"/></a:solidFill>
          <a:latin typeface="Microsoft YaHei"/>
          <a:ea typeface="Microsoft YaHei"/>
        </a:rPr>
        <a:t>R</a:t>
      </a:r>
    </a:p>
  </a:txBody>
  <a:tcPr>
    <a:solidFill><a:srgbClr val="C8E6C9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1">
          <a:solidFill><a:srgbClr val="0D47A1"/></a:solidFill>
          <a:latin typeface="Microsoft YaHei"/>
          <a:ea typeface="Microsoft YaHei"/>
        </a:rPr>
        <a:t>C</a:t>
      </a:r>
    </a:p>
  </a:txBody>
  <a:tcPr>
    <a:solidFill><a:srgbClr val="BBDEFB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a:tc>
  <a:txBody>
    <a:bodyPr anchor="ctr" anchorCtr="1"/>
    <a:lstStyle/>
    <a:p>
      <a:pPr algn="ctr"/>
      <a:r>
        <a:rPr lang="zh-CN" sz="1000" b="0">
          <a:solidFill><a:srgbClr val="757575"/></a:solidFill>
          <a:latin typeface="Microsoft YaHei"/>
          <a:ea typeface="Microsoft YaHei"/>
        </a:rPr>
        <a:t>I</a:t>
      </a:r>
    </a:p>
  </a:txBody>
  <a:tcPr>
    <a:solidFill><a:srgbClr val="F5F5F5"/></a:solidFill>
    <a:ln w="9525"><a:solidFill><a:srgbClr val="C8E6C9"/></a:solidFill></a:ln>
  </a:tcPr>
</a:tc></a:tr>
      </a:tbl>
    </a:graphic>
  </a:graphic>
</p:graphicFrame>
    </p:spTree>
  </p:cSld>
  <p:clrMapOvr><a:masterClrMapping/></p:clrMapOvr>
</p:sld>
</file>

<file path=ppt/theme/theme1.xml><?xml version="1.0" encoding="utf-8"?>
<a:theme xmlns:a="http://schemas.openxmlformats.org/drawingml/2006/main" name="GreenHealing">
  <a:themeElements>
    <a:clrScheme name="GreenHealing">
      <a:dk1>
        <a:srgbClr val="1B5E20"/>
      </a:dk1>
      <a:lt1>
        <a:srgbClr val="F1F8E9"/>
      </a:lt1>
      <a:dk2>
        <a:srgbClr val="2E7D32"/>
      </a:dk2>
      <a:lt2>
        <a:srgbClr val="DCEDC8"/>
      </a:lt2>
      <a:accent1>
        <a:srgbClr val="4CAF50"/>
      </a:accent1>
      <a:accent2>
        <a:srgbClr val="81C784"/>
      </a:accent2>
      <a:accent3>
        <a:srgbClr val="A5D6A7"/>
      </a:accent3>
      <a:accent4>
        <a:srgbClr val="66BB6A"/>
      </a:accent4>
      <a:accent5>
        <a:srgbClr val="388E3C"/>
      </a:accent5>
      <a:accent6>
        <a:srgbClr val="C8E6C9"/>
      </a:accent6>
      <a:hlink>
        <a:srgbClr val="43A047"/>
      </a:hlink>
      <a:folHlink>
        <a:srgbClr val="81C784"/>
      </a:folHlink>
    </a:clrScheme>
    <a:fontScheme name="GreenHealing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GreenHealing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</a:fmtScheme>
  </a:themeElements>
</a:theme>
</file>