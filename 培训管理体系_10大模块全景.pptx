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5E20"/>
                </a:solidFill>
              </a:rPr>
              <a:t>生产培训管理体系 · 10大模块全景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74320" y="43891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F6E"/>
                </a:solidFill>
              </a:rPr>
              <a:t>Production Training Management System - 10 Core Modules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" y="576072"/>
            <a:ext cx="8595360" cy="0"/>
          </a:xfrm>
          <a:prstGeom prst="line">
            <a:avLst/>
          </a:prstGeom>
          <a:noFill/>
          <a:ln w="19050">
            <a:solidFill>
              <a:srgbClr val="66BB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1572768" cy="195453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1572768" cy="54864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042416"/>
            <a:ext cx="274320" cy="228600"/>
          </a:xfrm>
          <a:prstGeom prst="roundRect">
            <a:avLst>
              <a:gd name="adj" fmla="val 24000"/>
            </a:avLst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04241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0664" y="1024128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5E20"/>
                </a:solidFill>
              </a:rPr>
              <a:t>培训体系管理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298448"/>
            <a:ext cx="1298448" cy="0"/>
          </a:xfrm>
          <a:prstGeom prst="line">
            <a:avLst/>
          </a:prstGeom>
          <a:noFill/>
          <a:ln w="6350">
            <a:solidFill>
              <a:srgbClr val="A5D6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335024"/>
            <a:ext cx="1298448" cy="1351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组织架构设计与审批</a:t>
            </a:r>
            <a:endParaRPr lang="en-US" sz="800" dirty="0"/>
          </a:p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管理制度/程序文件编制</a:t>
            </a:r>
            <a:endParaRPr lang="en-US" sz="800" dirty="0"/>
          </a:p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培训政策宣贯与沟通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029968" y="868680"/>
            <a:ext cx="1572768" cy="195453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29968" y="868680"/>
            <a:ext cx="1572768" cy="54864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14" name="Shape 12"/>
          <p:cNvSpPr/>
          <p:nvPr/>
        </p:nvSpPr>
        <p:spPr>
          <a:xfrm>
            <a:off x="2167128" y="1042416"/>
            <a:ext cx="274320" cy="228600"/>
          </a:xfrm>
          <a:prstGeom prst="roundRect">
            <a:avLst>
              <a:gd name="adj" fmla="val 24000"/>
            </a:avLst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2167128" y="104241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96312" y="1024128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5E20"/>
                </a:solidFill>
              </a:rPr>
              <a:t>培训需求管理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67128" y="1298448"/>
            <a:ext cx="1298448" cy="0"/>
          </a:xfrm>
          <a:prstGeom prst="line">
            <a:avLst/>
          </a:prstGeom>
          <a:noFill/>
          <a:ln w="6350">
            <a:solidFill>
              <a:srgbClr val="A5D6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67128" y="1335024"/>
            <a:ext cx="1298448" cy="1351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新员工入职培训需求</a:t>
            </a:r>
            <a:endParaRPr lang="en-US" sz="800" dirty="0"/>
          </a:p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在岗技能差距分析</a:t>
            </a:r>
            <a:endParaRPr lang="en-US" sz="800" dirty="0"/>
          </a:p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转岗/返岗培训需求</a:t>
            </a:r>
            <a:endParaRPr lang="en-US" sz="800" dirty="0"/>
          </a:p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质量/安全专项培训</a:t>
            </a:r>
            <a:endParaRPr lang="en-US" sz="800" dirty="0"/>
          </a:p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客户审核触发培训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785616" y="868680"/>
            <a:ext cx="1572768" cy="195453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85616" y="868680"/>
            <a:ext cx="1572768" cy="54864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21" name="Shape 19"/>
          <p:cNvSpPr/>
          <p:nvPr/>
        </p:nvSpPr>
        <p:spPr>
          <a:xfrm>
            <a:off x="3922776" y="1042416"/>
            <a:ext cx="274320" cy="228600"/>
          </a:xfrm>
          <a:prstGeom prst="roundRect">
            <a:avLst>
              <a:gd name="adj" fmla="val 24000"/>
            </a:avLst>
          </a:prstGeom>
          <a:solidFill>
            <a:srgbClr val="2E7D32"/>
          </a:solidFill>
          <a:ln/>
        </p:spPr>
      </p:sp>
      <p:sp>
        <p:nvSpPr>
          <p:cNvPr id="22" name="Text 20"/>
          <p:cNvSpPr/>
          <p:nvPr/>
        </p:nvSpPr>
        <p:spPr>
          <a:xfrm>
            <a:off x="3922776" y="104241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51960" y="1024128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5E20"/>
                </a:solidFill>
              </a:rPr>
              <a:t>培训计划管理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922776" y="1298448"/>
            <a:ext cx="1298448" cy="0"/>
          </a:xfrm>
          <a:prstGeom prst="line">
            <a:avLst/>
          </a:prstGeom>
          <a:noFill/>
          <a:ln w="6350">
            <a:solidFill>
              <a:srgbClr val="A5D6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22776" y="1335024"/>
            <a:ext cx="1298448" cy="1351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年度培训计划编制</a:t>
            </a:r>
            <a:endParaRPr lang="en-US" sz="800" dirty="0"/>
          </a:p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月度计划分解</a:t>
            </a:r>
            <a:endParaRPr lang="en-US" sz="800" dirty="0"/>
          </a:p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周度排期</a:t>
            </a:r>
            <a:endParaRPr lang="en-US" sz="800" dirty="0"/>
          </a:p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临时/紧急培训计划</a:t>
            </a:r>
            <a:endParaRPr lang="en-US" sz="800" dirty="0"/>
          </a:p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计划变更申请审批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541264" y="868680"/>
            <a:ext cx="1572768" cy="195453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41264" y="868680"/>
            <a:ext cx="1572768" cy="54864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28" name="Shape 26"/>
          <p:cNvSpPr/>
          <p:nvPr/>
        </p:nvSpPr>
        <p:spPr>
          <a:xfrm>
            <a:off x="5678424" y="1042416"/>
            <a:ext cx="274320" cy="228600"/>
          </a:xfrm>
          <a:prstGeom prst="roundRect">
            <a:avLst>
              <a:gd name="adj" fmla="val 24000"/>
            </a:avLst>
          </a:prstGeom>
          <a:solidFill>
            <a:srgbClr val="2E7D32"/>
          </a:solidFill>
          <a:ln/>
        </p:spPr>
      </p:sp>
      <p:sp>
        <p:nvSpPr>
          <p:cNvPr id="29" name="Text 27"/>
          <p:cNvSpPr/>
          <p:nvPr/>
        </p:nvSpPr>
        <p:spPr>
          <a:xfrm>
            <a:off x="5678424" y="104241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07608" y="1024128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5E20"/>
                </a:solidFill>
              </a:rPr>
              <a:t>培训实施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78424" y="1298448"/>
            <a:ext cx="1298448" cy="0"/>
          </a:xfrm>
          <a:prstGeom prst="line">
            <a:avLst/>
          </a:prstGeom>
          <a:noFill/>
          <a:ln w="6350">
            <a:solidFill>
              <a:srgbClr val="A5D6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78424" y="1335024"/>
            <a:ext cx="1298448" cy="1351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新员工入职培训</a:t>
            </a:r>
            <a:endParaRPr lang="en-US" sz="800" dirty="0"/>
          </a:p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岗位理论培训</a:t>
            </a:r>
            <a:endParaRPr lang="en-US" sz="800" dirty="0"/>
          </a:p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岗位实操培训(OJT)</a:t>
            </a:r>
            <a:endParaRPr lang="en-US" sz="800" dirty="0"/>
          </a:p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班前会培训传达</a:t>
            </a:r>
            <a:endParaRPr lang="en-US" sz="800" dirty="0"/>
          </a:p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专项培训(质量/安全)</a:t>
            </a:r>
            <a:endParaRPr lang="en-US" sz="800" dirty="0"/>
          </a:p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转岗培训</a:t>
            </a:r>
            <a:endParaRPr lang="en-US" sz="800" dirty="0"/>
          </a:p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签到出勤记录</a:t>
            </a:r>
            <a:endParaRPr lang="en-US" sz="800" dirty="0"/>
          </a:p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现场照片/视频记录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296912" y="868680"/>
            <a:ext cx="1572768" cy="195453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96912" y="868680"/>
            <a:ext cx="1572768" cy="54864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35" name="Shape 33"/>
          <p:cNvSpPr/>
          <p:nvPr/>
        </p:nvSpPr>
        <p:spPr>
          <a:xfrm>
            <a:off x="7434072" y="1042416"/>
            <a:ext cx="274320" cy="228600"/>
          </a:xfrm>
          <a:prstGeom prst="roundRect">
            <a:avLst>
              <a:gd name="adj" fmla="val 24000"/>
            </a:avLst>
          </a:prstGeom>
          <a:solidFill>
            <a:srgbClr val="2E7D32"/>
          </a:solidFill>
          <a:ln/>
        </p:spPr>
      </p:sp>
      <p:sp>
        <p:nvSpPr>
          <p:cNvPr id="36" name="Text 34"/>
          <p:cNvSpPr/>
          <p:nvPr/>
        </p:nvSpPr>
        <p:spPr>
          <a:xfrm>
            <a:off x="7434072" y="104241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763256" y="1024128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5E20"/>
                </a:solidFill>
              </a:rPr>
              <a:t>培训考核与认证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434072" y="1298448"/>
            <a:ext cx="1298448" cy="0"/>
          </a:xfrm>
          <a:prstGeom prst="line">
            <a:avLst/>
          </a:prstGeom>
          <a:noFill/>
          <a:ln w="6350">
            <a:solidFill>
              <a:srgbClr val="A5D6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34072" y="1335024"/>
            <a:ext cx="1298448" cy="1351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理论考试出题组织</a:t>
            </a:r>
            <a:endParaRPr lang="en-US" sz="800" dirty="0"/>
          </a:p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理论成绩录入存档</a:t>
            </a:r>
            <a:endParaRPr lang="en-US" sz="800" dirty="0"/>
          </a:p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实操考核执行</a:t>
            </a:r>
            <a:endParaRPr lang="en-US" sz="800" dirty="0"/>
          </a:p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实操评分记录</a:t>
            </a:r>
            <a:endParaRPr lang="en-US" sz="800" dirty="0"/>
          </a:p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技能等级评定(L0-L3)</a:t>
            </a:r>
            <a:endParaRPr lang="en-US" sz="800" dirty="0"/>
          </a:p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上岗证发放/吊销</a:t>
            </a:r>
            <a:endParaRPr lang="en-US" sz="800" dirty="0"/>
          </a:p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师徒协议签订跟踪</a:t>
            </a:r>
            <a:endParaRPr lang="en-US" sz="800" dirty="0"/>
          </a:p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不合格员工复训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74320" y="3006090"/>
            <a:ext cx="1572768" cy="195453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74320" y="3006090"/>
            <a:ext cx="1572768" cy="54864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42" name="Shape 40"/>
          <p:cNvSpPr/>
          <p:nvPr/>
        </p:nvSpPr>
        <p:spPr>
          <a:xfrm>
            <a:off x="411480" y="3179826"/>
            <a:ext cx="274320" cy="228600"/>
          </a:xfrm>
          <a:prstGeom prst="roundRect">
            <a:avLst>
              <a:gd name="adj" fmla="val 24000"/>
            </a:avLst>
          </a:prstGeom>
          <a:solidFill>
            <a:srgbClr val="2E7D32"/>
          </a:solidFill>
          <a:ln/>
        </p:spPr>
      </p:sp>
      <p:sp>
        <p:nvSpPr>
          <p:cNvPr id="43" name="Text 41"/>
          <p:cNvSpPr/>
          <p:nvPr/>
        </p:nvSpPr>
        <p:spPr>
          <a:xfrm>
            <a:off x="411480" y="317982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40664" y="3161538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5E20"/>
                </a:solidFill>
              </a:rPr>
              <a:t>技能矩阵管理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11480" y="3435858"/>
            <a:ext cx="1298448" cy="0"/>
          </a:xfrm>
          <a:prstGeom prst="line">
            <a:avLst/>
          </a:prstGeom>
          <a:noFill/>
          <a:ln w="6350">
            <a:solidFill>
              <a:srgbClr val="A5D6A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3472434"/>
            <a:ext cx="1298448" cy="1351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技能矩阵模板设计维护</a:t>
            </a:r>
            <a:endParaRPr lang="en-US" sz="800" dirty="0"/>
          </a:p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员工技能数据采集</a:t>
            </a:r>
            <a:endParaRPr lang="en-US" sz="800" dirty="0"/>
          </a:p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矩阵可视化更新</a:t>
            </a:r>
            <a:endParaRPr lang="en-US" sz="800" dirty="0"/>
          </a:p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月度审核异常处理</a:t>
            </a:r>
            <a:endParaRPr lang="en-US" sz="800" dirty="0"/>
          </a:p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跨项目矩阵对齐(VT vs NX)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029968" y="3006090"/>
            <a:ext cx="1572768" cy="195453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029968" y="3006090"/>
            <a:ext cx="1572768" cy="54864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49" name="Shape 47"/>
          <p:cNvSpPr/>
          <p:nvPr/>
        </p:nvSpPr>
        <p:spPr>
          <a:xfrm>
            <a:off x="2167128" y="3179826"/>
            <a:ext cx="274320" cy="228600"/>
          </a:xfrm>
          <a:prstGeom prst="roundRect">
            <a:avLst>
              <a:gd name="adj" fmla="val 24000"/>
            </a:avLst>
          </a:prstGeom>
          <a:solidFill>
            <a:srgbClr val="2E7D32"/>
          </a:solidFill>
          <a:ln/>
        </p:spPr>
      </p:sp>
      <p:sp>
        <p:nvSpPr>
          <p:cNvPr id="50" name="Text 48"/>
          <p:cNvSpPr/>
          <p:nvPr/>
        </p:nvSpPr>
        <p:spPr>
          <a:xfrm>
            <a:off x="2167128" y="317982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07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496312" y="3161538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5E20"/>
                </a:solidFill>
              </a:rPr>
              <a:t>培训师管理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167128" y="3435858"/>
            <a:ext cx="1298448" cy="0"/>
          </a:xfrm>
          <a:prstGeom prst="line">
            <a:avLst/>
          </a:prstGeom>
          <a:noFill/>
          <a:ln w="6350">
            <a:solidFill>
              <a:srgbClr val="A5D6A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167128" y="3472434"/>
            <a:ext cx="1298448" cy="1351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培训师选拔资质评估</a:t>
            </a:r>
            <a:endParaRPr lang="en-US" sz="800" dirty="0"/>
          </a:p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培训师技能矩阵维护</a:t>
            </a:r>
            <a:endParaRPr lang="en-US" sz="800" dirty="0"/>
          </a:p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培训能力评估(TTT)</a:t>
            </a:r>
            <a:endParaRPr lang="en-US" sz="800" dirty="0"/>
          </a:p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培训师绩效考核</a:t>
            </a:r>
            <a:endParaRPr lang="en-US" sz="800" dirty="0"/>
          </a:p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跨班次调配</a:t>
            </a:r>
            <a:endParaRPr lang="en-US" sz="800" dirty="0"/>
          </a:p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资质档案维护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785616" y="3006090"/>
            <a:ext cx="1572768" cy="195453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785616" y="3006090"/>
            <a:ext cx="1572768" cy="54864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56" name="Shape 54"/>
          <p:cNvSpPr/>
          <p:nvPr/>
        </p:nvSpPr>
        <p:spPr>
          <a:xfrm>
            <a:off x="3922776" y="3179826"/>
            <a:ext cx="274320" cy="228600"/>
          </a:xfrm>
          <a:prstGeom prst="roundRect">
            <a:avLst>
              <a:gd name="adj" fmla="val 24000"/>
            </a:avLst>
          </a:prstGeom>
          <a:solidFill>
            <a:srgbClr val="2E7D32"/>
          </a:solidFill>
          <a:ln/>
        </p:spPr>
      </p:sp>
      <p:sp>
        <p:nvSpPr>
          <p:cNvPr id="57" name="Text 55"/>
          <p:cNvSpPr/>
          <p:nvPr/>
        </p:nvSpPr>
        <p:spPr>
          <a:xfrm>
            <a:off x="3922776" y="317982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08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251960" y="3161538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5E20"/>
                </a:solidFill>
              </a:rPr>
              <a:t>培训记录与档案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922776" y="3435858"/>
            <a:ext cx="1298448" cy="0"/>
          </a:xfrm>
          <a:prstGeom prst="line">
            <a:avLst/>
          </a:prstGeom>
          <a:noFill/>
          <a:ln w="6350">
            <a:solidFill>
              <a:srgbClr val="A5D6A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922776" y="3472434"/>
            <a:ext cx="1298448" cy="1351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培训记录收集</a:t>
            </a:r>
            <a:endParaRPr lang="en-US" sz="800" dirty="0"/>
          </a:p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完整性检查(日/周)</a:t>
            </a:r>
            <a:endParaRPr lang="en-US" sz="800" dirty="0"/>
          </a:p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一人一档归档</a:t>
            </a:r>
            <a:endParaRPr lang="en-US" sz="800" dirty="0"/>
          </a:p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电子化/系统录入</a:t>
            </a:r>
            <a:endParaRPr lang="en-US" sz="800" dirty="0"/>
          </a:p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纸质档案管理</a:t>
            </a:r>
            <a:endParaRPr lang="en-US" sz="800" dirty="0"/>
          </a:p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定期抽查审计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541264" y="3006090"/>
            <a:ext cx="1572768" cy="195453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5541264" y="3006090"/>
            <a:ext cx="1572768" cy="54864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63" name="Shape 61"/>
          <p:cNvSpPr/>
          <p:nvPr/>
        </p:nvSpPr>
        <p:spPr>
          <a:xfrm>
            <a:off x="5678424" y="3179826"/>
            <a:ext cx="274320" cy="228600"/>
          </a:xfrm>
          <a:prstGeom prst="roundRect">
            <a:avLst>
              <a:gd name="adj" fmla="val 24000"/>
            </a:avLst>
          </a:prstGeom>
          <a:solidFill>
            <a:srgbClr val="2E7D32"/>
          </a:solidFill>
          <a:ln/>
        </p:spPr>
      </p:sp>
      <p:sp>
        <p:nvSpPr>
          <p:cNvPr id="64" name="Text 62"/>
          <p:cNvSpPr/>
          <p:nvPr/>
        </p:nvSpPr>
        <p:spPr>
          <a:xfrm>
            <a:off x="5678424" y="317982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09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007608" y="3161538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5E20"/>
                </a:solidFill>
              </a:rPr>
              <a:t>审核应对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678424" y="3435858"/>
            <a:ext cx="1298448" cy="0"/>
          </a:xfrm>
          <a:prstGeom prst="line">
            <a:avLst/>
          </a:prstGeom>
          <a:noFill/>
          <a:ln w="6350">
            <a:solidFill>
              <a:srgbClr val="A5D6A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678424" y="3472434"/>
            <a:ext cx="1298448" cy="1351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审核前资料准备</a:t>
            </a:r>
            <a:endParaRPr lang="en-US" sz="800" dirty="0"/>
          </a:p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审核中陪同应答</a:t>
            </a:r>
            <a:endParaRPr lang="en-US" sz="800" dirty="0"/>
          </a:p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审核后整改计划</a:t>
            </a:r>
            <a:endParaRPr lang="en-US" sz="800" dirty="0"/>
          </a:p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整改验证证据提交</a:t>
            </a:r>
            <a:endParaRPr lang="en-US" sz="800" dirty="0"/>
          </a:p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内部分享预防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7296912" y="3006090"/>
            <a:ext cx="1572768" cy="195453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7296912" y="3006090"/>
            <a:ext cx="1572768" cy="54864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70" name="Shape 68"/>
          <p:cNvSpPr/>
          <p:nvPr/>
        </p:nvSpPr>
        <p:spPr>
          <a:xfrm>
            <a:off x="7434072" y="3179826"/>
            <a:ext cx="274320" cy="228600"/>
          </a:xfrm>
          <a:prstGeom prst="roundRect">
            <a:avLst>
              <a:gd name="adj" fmla="val 24000"/>
            </a:avLst>
          </a:prstGeom>
          <a:solidFill>
            <a:srgbClr val="2E7D32"/>
          </a:solidFill>
          <a:ln/>
        </p:spPr>
      </p:sp>
      <p:sp>
        <p:nvSpPr>
          <p:cNvPr id="71" name="Text 69"/>
          <p:cNvSpPr/>
          <p:nvPr/>
        </p:nvSpPr>
        <p:spPr>
          <a:xfrm>
            <a:off x="7434072" y="317982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7763256" y="3161538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5E20"/>
                </a:solidFill>
              </a:rPr>
              <a:t>持续改进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7434072" y="3435858"/>
            <a:ext cx="1298448" cy="0"/>
          </a:xfrm>
          <a:prstGeom prst="line">
            <a:avLst/>
          </a:prstGeom>
          <a:noFill/>
          <a:ln w="6350">
            <a:solidFill>
              <a:srgbClr val="A5D6A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34072" y="3472434"/>
            <a:ext cx="1298448" cy="1351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培训效果评估(Kirkpatrick)</a:t>
            </a:r>
            <a:endParaRPr lang="en-US" sz="800" dirty="0"/>
          </a:p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体系月度复盘</a:t>
            </a:r>
            <a:endParaRPr lang="en-US" sz="800" dirty="0"/>
          </a:p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课程/教材更新迭代</a:t>
            </a:r>
            <a:endParaRPr lang="en-US" sz="800" dirty="0"/>
          </a:p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改进建议收集</a:t>
            </a:r>
            <a:endParaRPr lang="en-US" sz="800" dirty="0"/>
          </a:p>
          <a:p>
            <a:pPr marL="101600" indent="-101600">
              <a:lnSpc>
                <a:spcPct val="95000"/>
              </a:lnSpc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2C3E2D"/>
                </a:solidFill>
              </a:rPr>
              <a:t>  最佳实践跨项目推广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274320" y="491490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F6E"/>
                </a:solidFill>
              </a:rPr>
              <a:t>摩洛哥生产培训体系 | 基于RACI矩阵 |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生产培训管理体系 - 10大模块全景</dc:title>
  <dc:subject>PptxGenJS Presentation</dc:subject>
  <dc:creator>Production Training Team</dc:creator>
  <cp:lastModifiedBy>Production Training Team</cp:lastModifiedBy>
  <cp:revision>1</cp:revision>
  <dcterms:created xsi:type="dcterms:W3CDTF">2026-09-08T16:27:10Z</dcterms:created>
  <dcterms:modified xsi:type="dcterms:W3CDTF">2026-09-08T16:27:10Z</dcterms:modified>
</cp:coreProperties>
</file>